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RoxboroughCF" charset="1" panose="00000500000000000000"/>
      <p:regular r:id="rId22"/>
    </p:embeddedFont>
    <p:embeddedFont>
      <p:font typeface="Sorts Mill Goudy" charset="1" panose="02000503000000000000"/>
      <p:regular r:id="rId23"/>
    </p:embeddedFont>
    <p:embeddedFont>
      <p:font typeface="Cooper BT Bold" charset="1" panose="0208080404030B020404"/>
      <p:regular r:id="rId24"/>
    </p:embeddedFont>
    <p:embeddedFont>
      <p:font typeface="Cooper BT Light" charset="1" panose="0208050304030B020404"/>
      <p:regular r:id="rId25"/>
    </p:embeddedFont>
    <p:embeddedFont>
      <p:font typeface="Cooper BT Bold Italics" charset="1" panose="0208080405030B090404"/>
      <p:regular r:id="rId26"/>
    </p:embeddedFont>
    <p:embeddedFont>
      <p:font typeface="Cooper BT Light Italics" charset="1" panose="0208050304030B0904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662" y="514350"/>
            <a:ext cx="17418675" cy="9258300"/>
            <a:chOff x="0" y="0"/>
            <a:chExt cx="4587635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7635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87635">
                  <a:moveTo>
                    <a:pt x="17778" y="0"/>
                  </a:moveTo>
                  <a:lnTo>
                    <a:pt x="4569856" y="0"/>
                  </a:lnTo>
                  <a:cubicBezTo>
                    <a:pt x="4579675" y="0"/>
                    <a:pt x="4587635" y="7960"/>
                    <a:pt x="4587635" y="17778"/>
                  </a:cubicBezTo>
                  <a:lnTo>
                    <a:pt x="4587635" y="2420622"/>
                  </a:lnTo>
                  <a:cubicBezTo>
                    <a:pt x="4587635" y="2425337"/>
                    <a:pt x="4585762" y="2429859"/>
                    <a:pt x="4582428" y="2433193"/>
                  </a:cubicBezTo>
                  <a:cubicBezTo>
                    <a:pt x="4579093" y="2436527"/>
                    <a:pt x="4574572" y="2438400"/>
                    <a:pt x="4569856" y="2438400"/>
                  </a:cubicBezTo>
                  <a:lnTo>
                    <a:pt x="17778" y="2438400"/>
                  </a:lnTo>
                  <a:cubicBezTo>
                    <a:pt x="13063" y="2438400"/>
                    <a:pt x="8541" y="2436527"/>
                    <a:pt x="5207" y="2433193"/>
                  </a:cubicBezTo>
                  <a:cubicBezTo>
                    <a:pt x="1873" y="2429859"/>
                    <a:pt x="0" y="2425337"/>
                    <a:pt x="0" y="2420622"/>
                  </a:cubicBezTo>
                  <a:lnTo>
                    <a:pt x="0" y="17778"/>
                  </a:lnTo>
                  <a:cubicBezTo>
                    <a:pt x="0" y="13063"/>
                    <a:pt x="1873" y="8541"/>
                    <a:pt x="5207" y="5207"/>
                  </a:cubicBezTo>
                  <a:cubicBezTo>
                    <a:pt x="8541" y="1873"/>
                    <a:pt x="13063" y="0"/>
                    <a:pt x="17778" y="0"/>
                  </a:cubicBezTo>
                  <a:close/>
                </a:path>
              </a:pathLst>
            </a:custGeom>
            <a:solidFill>
              <a:srgbClr val="232F3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587635" cy="2466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143500"/>
            <a:ext cx="7154177" cy="4171517"/>
            <a:chOff x="0" y="0"/>
            <a:chExt cx="1884228" cy="1098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4228" cy="1098671"/>
            </a:xfrm>
            <a:custGeom>
              <a:avLst/>
              <a:gdLst/>
              <a:ahLst/>
              <a:cxnLst/>
              <a:rect r="r" b="b" t="t" l="l"/>
              <a:pathLst>
                <a:path h="1098671" w="1884228">
                  <a:moveTo>
                    <a:pt x="38958" y="0"/>
                  </a:moveTo>
                  <a:lnTo>
                    <a:pt x="1845270" y="0"/>
                  </a:lnTo>
                  <a:cubicBezTo>
                    <a:pt x="1866786" y="0"/>
                    <a:pt x="1884228" y="17442"/>
                    <a:pt x="1884228" y="38958"/>
                  </a:cubicBezTo>
                  <a:lnTo>
                    <a:pt x="1884228" y="1059714"/>
                  </a:lnTo>
                  <a:cubicBezTo>
                    <a:pt x="1884228" y="1070046"/>
                    <a:pt x="1880123" y="1079955"/>
                    <a:pt x="1872817" y="1087261"/>
                  </a:cubicBezTo>
                  <a:cubicBezTo>
                    <a:pt x="1865511" y="1094567"/>
                    <a:pt x="1855602" y="1098671"/>
                    <a:pt x="1845270" y="1098671"/>
                  </a:cubicBezTo>
                  <a:lnTo>
                    <a:pt x="38958" y="1098671"/>
                  </a:lnTo>
                  <a:cubicBezTo>
                    <a:pt x="28625" y="1098671"/>
                    <a:pt x="18716" y="1094567"/>
                    <a:pt x="11410" y="1087261"/>
                  </a:cubicBezTo>
                  <a:cubicBezTo>
                    <a:pt x="4104" y="1079955"/>
                    <a:pt x="0" y="1070046"/>
                    <a:pt x="0" y="1059714"/>
                  </a:cubicBezTo>
                  <a:lnTo>
                    <a:pt x="0" y="38958"/>
                  </a:lnTo>
                  <a:cubicBezTo>
                    <a:pt x="0" y="28625"/>
                    <a:pt x="4104" y="18716"/>
                    <a:pt x="11410" y="11410"/>
                  </a:cubicBezTo>
                  <a:cubicBezTo>
                    <a:pt x="18716" y="4104"/>
                    <a:pt x="28625" y="0"/>
                    <a:pt x="38958" y="0"/>
                  </a:cubicBezTo>
                  <a:close/>
                </a:path>
              </a:pathLst>
            </a:custGeom>
            <a:solidFill>
              <a:srgbClr val="F2F2F2">
                <a:alpha val="9882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884228" cy="1127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10234" y="800499"/>
            <a:ext cx="12336579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spc="-192">
                <a:solidFill>
                  <a:srgbClr val="F2F2F2"/>
                </a:solidFill>
                <a:latin typeface="RoxboroughCF"/>
                <a:ea typeface="RoxboroughCF"/>
                <a:cs typeface="RoxboroughCF"/>
                <a:sym typeface="RoxboroughCF"/>
              </a:rPr>
              <a:t>Amaz</a:t>
            </a:r>
            <a:r>
              <a:rPr lang="en-US" sz="9600" spc="-192">
                <a:solidFill>
                  <a:srgbClr val="F2F2F2"/>
                </a:solidFill>
                <a:latin typeface="RoxboroughCF"/>
                <a:ea typeface="RoxboroughCF"/>
                <a:cs typeface="RoxboroughCF"/>
                <a:sym typeface="RoxboroughCF"/>
              </a:rPr>
              <a:t>on Sales Analytics 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0877" y="5610396"/>
            <a:ext cx="6449823" cy="314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3"/>
              </a:lnSpc>
            </a:pPr>
            <a:r>
              <a:rPr lang="en-US" sz="4645" spc="743">
                <a:solidFill>
                  <a:srgbClr val="232F3E"/>
                </a:solidFill>
                <a:latin typeface="RoxboroughCF"/>
                <a:ea typeface="RoxboroughCF"/>
                <a:cs typeface="RoxboroughCF"/>
                <a:sym typeface="RoxboroughCF"/>
              </a:rPr>
              <a:t>PRESENTED BY:</a:t>
            </a:r>
          </a:p>
          <a:p>
            <a:pPr algn="l">
              <a:lnSpc>
                <a:spcPts val="6182"/>
              </a:lnSpc>
            </a:pPr>
            <a:r>
              <a:rPr lang="en-US" sz="4415">
                <a:solidFill>
                  <a:srgbClr val="232F3E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Y</a:t>
            </a:r>
            <a:r>
              <a:rPr lang="en-US" sz="4415">
                <a:solidFill>
                  <a:srgbClr val="232F3E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oussef Kamal</a:t>
            </a:r>
          </a:p>
          <a:p>
            <a:pPr algn="l">
              <a:lnSpc>
                <a:spcPts val="6182"/>
              </a:lnSpc>
            </a:pPr>
            <a:r>
              <a:rPr lang="en-US" sz="4415">
                <a:solidFill>
                  <a:srgbClr val="232F3E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Maryam Nabil</a:t>
            </a:r>
          </a:p>
          <a:p>
            <a:pPr algn="l">
              <a:lnSpc>
                <a:spcPts val="6182"/>
              </a:lnSpc>
              <a:spcBef>
                <a:spcPct val="0"/>
              </a:spcBef>
            </a:pPr>
            <a:r>
              <a:rPr lang="en-US" sz="4415">
                <a:solidFill>
                  <a:srgbClr val="232F3E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Karten Wageh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0234" y="3836561"/>
            <a:ext cx="8115300" cy="538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6"/>
              </a:lnSpc>
              <a:spcBef>
                <a:spcPct val="0"/>
              </a:spcBef>
            </a:pPr>
            <a:r>
              <a:rPr lang="en-US" sz="3176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Data Analysis &amp; Visualization using Power BI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313188" y="1028700"/>
            <a:ext cx="1946112" cy="1789167"/>
          </a:xfrm>
          <a:custGeom>
            <a:avLst/>
            <a:gdLst/>
            <a:ahLst/>
            <a:cxnLst/>
            <a:rect r="r" b="b" t="t" l="l"/>
            <a:pathLst>
              <a:path h="1789167" w="1946112">
                <a:moveTo>
                  <a:pt x="0" y="0"/>
                </a:moveTo>
                <a:lnTo>
                  <a:pt x="1946112" y="0"/>
                </a:lnTo>
                <a:lnTo>
                  <a:pt x="1946112" y="1789167"/>
                </a:lnTo>
                <a:lnTo>
                  <a:pt x="0" y="1789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05484" y="1123950"/>
            <a:ext cx="1063060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Table of Contents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94313" y="3111500"/>
            <a:ext cx="329370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5484" y="3103880"/>
            <a:ext cx="584860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94313" y="4811395"/>
            <a:ext cx="382647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Da</a:t>
            </a: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ta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5484" y="4801870"/>
            <a:ext cx="584860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94313" y="6511290"/>
            <a:ext cx="382647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Da</a:t>
            </a: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ta Cleaning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4577" y="6499860"/>
            <a:ext cx="584860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94313" y="8211185"/>
            <a:ext cx="382647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Da</a:t>
            </a: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ta Modeling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5484" y="8197850"/>
            <a:ext cx="584860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15605" y="2830513"/>
            <a:ext cx="307637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Expl</a:t>
            </a: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oratory Data Analysis (EDA)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26776" y="3103880"/>
            <a:ext cx="584860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16511" y="4524692"/>
            <a:ext cx="3826476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Dashb</a:t>
            </a: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oard Showcase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26776" y="4801870"/>
            <a:ext cx="584860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70716" y="6222682"/>
            <a:ext cx="3826476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</a:t>
            </a:r>
            <a:r>
              <a:rPr lang="en-US" sz="3200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nsights &amp; Recommendations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26776" y="6499860"/>
            <a:ext cx="584860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24811" y="3226836"/>
            <a:ext cx="7264542" cy="5705968"/>
          </a:xfrm>
          <a:custGeom>
            <a:avLst/>
            <a:gdLst/>
            <a:ahLst/>
            <a:cxnLst/>
            <a:rect r="r" b="b" t="t" l="l"/>
            <a:pathLst>
              <a:path h="5705968" w="7264542">
                <a:moveTo>
                  <a:pt x="0" y="0"/>
                </a:moveTo>
                <a:lnTo>
                  <a:pt x="7264542" y="0"/>
                </a:lnTo>
                <a:lnTo>
                  <a:pt x="7264542" y="5705967"/>
                </a:lnTo>
                <a:lnTo>
                  <a:pt x="0" y="5705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5484" y="1123950"/>
            <a:ext cx="1063060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47053"/>
            <a:ext cx="8115300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0395" indent="-310197" lvl="1">
              <a:lnSpc>
                <a:spcPts val="3448"/>
              </a:lnSpc>
              <a:buFont typeface="Arial"/>
              <a:buChar char="•"/>
            </a:pPr>
            <a:r>
              <a:rPr lang="en-US" sz="2873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 develop an interactive Power BI dashboard t</a:t>
            </a:r>
            <a:r>
              <a:rPr lang="en-US" sz="2873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hat analyzes Amazon product performance over a one-month period.</a:t>
            </a:r>
          </a:p>
          <a:p>
            <a:pPr algn="l" marL="620395" indent="-310197" lvl="1">
              <a:lnSpc>
                <a:spcPts val="3448"/>
              </a:lnSpc>
              <a:buFont typeface="Arial"/>
              <a:buChar char="•"/>
            </a:pPr>
            <a:r>
              <a:rPr lang="en-US" sz="2873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goal is to move beyond simple reporting to provide actionable intelligence on Sales Velocity and Revenue Drivers.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650522"/>
            <a:ext cx="8944111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Overview</a:t>
            </a:r>
            <a:r>
              <a:rPr lang="en-US" sz="2600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: Monitoring Total Sales, Units Sold, and Average Ratings.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Drivers Analysis: Evaluating the impact of marketing levers like Coupons, Discounts, and Sponsored Ads.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Product Deep Dive</a:t>
            </a:r>
            <a:r>
              <a:rPr lang="en-US" sz="2600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: Providing the ability to drill down from a category level to a specific Product Deep Dive.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127436"/>
            <a:ext cx="2815709" cy="75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Objective: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792866"/>
            <a:ext cx="1812846" cy="75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Scope: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05484" y="1123950"/>
            <a:ext cx="1063060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ta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53854" y="5084270"/>
            <a:ext cx="7338696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Key</a:t>
            </a:r>
            <a:r>
              <a:rPr lang="en-US" b="true" sz="3600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Attributes: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5730065"/>
            <a:ext cx="9034146" cy="397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Metrics</a:t>
            </a: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Sales </a:t>
            </a: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Amount, Units Sold, Current Price, Rating, Review Count.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Status Flags: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Is_In_Coupon</a:t>
            </a: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Boolean flag for active vouchers.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Is_Sponsored</a:t>
            </a: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Boolean flag for paid advertisement slots.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Is_In_Buy_B</a:t>
            </a:r>
            <a:r>
              <a:rPr lang="en-US" b="true" sz="2799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ox:</a:t>
            </a: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Boolean flag indicating if the seller won the primary "Add to Cart" button.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53854" y="2704336"/>
            <a:ext cx="6742717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</a:t>
            </a:r>
            <a:r>
              <a:rPr lang="en-US" b="true" sz="3600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ata Source: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345640"/>
            <a:ext cx="8005446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dat</a:t>
            </a: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aset comprises transactional records for Amazon products, capturing the flow of sales, pricing, and customer feedback.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05484" y="2526978"/>
            <a:ext cx="6202624" cy="6755333"/>
          </a:xfrm>
          <a:custGeom>
            <a:avLst/>
            <a:gdLst/>
            <a:ahLst/>
            <a:cxnLst/>
            <a:rect r="r" b="b" t="t" l="l"/>
            <a:pathLst>
              <a:path h="6755333" w="6202624">
                <a:moveTo>
                  <a:pt x="0" y="0"/>
                </a:moveTo>
                <a:lnTo>
                  <a:pt x="6202624" y="0"/>
                </a:lnTo>
                <a:lnTo>
                  <a:pt x="6202624" y="6755333"/>
                </a:lnTo>
                <a:lnTo>
                  <a:pt x="0" y="6755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1589" y="3776783"/>
            <a:ext cx="4161079" cy="416107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82921" y="3776783"/>
            <a:ext cx="4161079" cy="416107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67453" y="3776783"/>
            <a:ext cx="4164221" cy="41642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05484" y="1123950"/>
            <a:ext cx="1063060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Data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Cleaning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7155" y="5476362"/>
            <a:ext cx="3769946" cy="68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2"/>
              </a:lnSpc>
              <a:spcBef>
                <a:spcPct val="0"/>
              </a:spcBef>
            </a:pPr>
            <a:r>
              <a:rPr lang="en-US" sz="4051">
                <a:solidFill>
                  <a:srgbClr val="232F3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Data</a:t>
            </a:r>
            <a:r>
              <a:rPr lang="en-US" sz="4051">
                <a:solidFill>
                  <a:srgbClr val="232F3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Typing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82921" y="5077371"/>
            <a:ext cx="4195153" cy="1384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232F3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Dup</a:t>
            </a:r>
            <a:r>
              <a:rPr lang="en-US" sz="4000">
                <a:solidFill>
                  <a:srgbClr val="232F3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licate Removal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05553" y="5429796"/>
            <a:ext cx="4195153" cy="67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232F3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</a:t>
            </a:r>
            <a:r>
              <a:rPr lang="en-US" sz="4000">
                <a:solidFill>
                  <a:srgbClr val="232F3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ull Handling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48800" y="3727081"/>
            <a:ext cx="4151953" cy="4161079"/>
            <a:chOff x="0" y="0"/>
            <a:chExt cx="811017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1017" cy="812800"/>
            </a:xfrm>
            <a:custGeom>
              <a:avLst/>
              <a:gdLst/>
              <a:ahLst/>
              <a:cxnLst/>
              <a:rect r="r" b="b" t="t" l="l"/>
              <a:pathLst>
                <a:path h="812800" w="811017">
                  <a:moveTo>
                    <a:pt x="405509" y="0"/>
                  </a:moveTo>
                  <a:cubicBezTo>
                    <a:pt x="181552" y="0"/>
                    <a:pt x="0" y="181951"/>
                    <a:pt x="0" y="406400"/>
                  </a:cubicBezTo>
                  <a:cubicBezTo>
                    <a:pt x="0" y="630849"/>
                    <a:pt x="181552" y="812800"/>
                    <a:pt x="405509" y="812800"/>
                  </a:cubicBezTo>
                  <a:cubicBezTo>
                    <a:pt x="629465" y="812800"/>
                    <a:pt x="811017" y="630849"/>
                    <a:pt x="811017" y="406400"/>
                  </a:cubicBezTo>
                  <a:cubicBezTo>
                    <a:pt x="811017" y="181951"/>
                    <a:pt x="629465" y="0"/>
                    <a:pt x="405509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033" y="9525"/>
              <a:ext cx="658952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232F3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Column Optimization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218098"/>
            <a:ext cx="16230600" cy="7770400"/>
          </a:xfrm>
          <a:custGeom>
            <a:avLst/>
            <a:gdLst/>
            <a:ahLst/>
            <a:cxnLst/>
            <a:rect r="r" b="b" t="t" l="l"/>
            <a:pathLst>
              <a:path h="7770400" w="16230600">
                <a:moveTo>
                  <a:pt x="0" y="0"/>
                </a:moveTo>
                <a:lnTo>
                  <a:pt x="16230600" y="0"/>
                </a:lnTo>
                <a:lnTo>
                  <a:pt x="16230600" y="7770400"/>
                </a:lnTo>
                <a:lnTo>
                  <a:pt x="0" y="777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5484" y="1123950"/>
            <a:ext cx="1063060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Data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Cleaning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05484" y="1123950"/>
            <a:ext cx="14246335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ta Modeling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7072" y="4036883"/>
            <a:ext cx="4977537" cy="56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699" i="true">
                <a:solidFill>
                  <a:srgbClr val="F2F2F2"/>
                </a:solidFill>
                <a:latin typeface="Cooper BT Bold Italics"/>
                <a:ea typeface="Cooper BT Bold Italics"/>
                <a:cs typeface="Cooper BT Bold Italics"/>
                <a:sym typeface="Cooper BT Bold Italics"/>
              </a:rPr>
              <a:t>Schem</a:t>
            </a:r>
            <a:r>
              <a:rPr lang="en-US" b="true" sz="3699" i="true">
                <a:solidFill>
                  <a:srgbClr val="F2F2F2"/>
                </a:solidFill>
                <a:latin typeface="Cooper BT Bold Italics"/>
                <a:ea typeface="Cooper BT Bold Italics"/>
                <a:cs typeface="Cooper BT Bold Italics"/>
                <a:sym typeface="Cooper BT Bold Italics"/>
              </a:rPr>
              <a:t>a Architecture: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7072" y="4743910"/>
            <a:ext cx="4599126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S</a:t>
            </a:r>
            <a:r>
              <a:rPr lang="en-US" sz="2799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tar Schema: Optimized for performance.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44437" y="4108321"/>
            <a:ext cx="4599126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i="true">
                <a:solidFill>
                  <a:srgbClr val="F2F2F2"/>
                </a:solidFill>
                <a:latin typeface="Cooper BT Bold Italics"/>
                <a:ea typeface="Cooper BT Bold Italics"/>
                <a:cs typeface="Cooper BT Bold Italics"/>
                <a:sym typeface="Cooper BT Bold Italics"/>
              </a:rPr>
              <a:t>T</a:t>
            </a:r>
            <a:r>
              <a:rPr lang="en-US" b="true" sz="2799" i="true">
                <a:solidFill>
                  <a:srgbClr val="F2F2F2"/>
                </a:solidFill>
                <a:latin typeface="Cooper BT Bold Italics"/>
                <a:ea typeface="Cooper BT Bold Italics"/>
                <a:cs typeface="Cooper BT Bold Italics"/>
                <a:sym typeface="Cooper BT Bold Italics"/>
              </a:rPr>
              <a:t>able Roles: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44437" y="4743910"/>
            <a:ext cx="4599126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Fac</a:t>
            </a:r>
            <a:r>
              <a:rPr lang="en-US" sz="2799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t Table: FactAmazon (Transactions &amp; Metrics).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Dimensions: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DimDate (Time Intelligence).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D</a:t>
            </a:r>
            <a:r>
              <a:rPr lang="en-US" sz="2799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imCategory (Product Filtering).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1763" y="4104511"/>
            <a:ext cx="413210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i="true">
                <a:solidFill>
                  <a:srgbClr val="F2F2F2"/>
                </a:solidFill>
                <a:latin typeface="Cooper BT Bold Italics"/>
                <a:ea typeface="Cooper BT Bold Italics"/>
                <a:cs typeface="Cooper BT Bold Italics"/>
                <a:sym typeface="Cooper BT Bold Italics"/>
              </a:rPr>
              <a:t> Relati</a:t>
            </a:r>
            <a:r>
              <a:rPr lang="en-US" b="true" sz="2799" i="true">
                <a:solidFill>
                  <a:srgbClr val="F2F2F2"/>
                </a:solidFill>
                <a:latin typeface="Cooper BT Bold Italics"/>
                <a:ea typeface="Cooper BT Bold Italics"/>
                <a:cs typeface="Cooper BT Bold Italics"/>
                <a:sym typeface="Cooper BT Bold Italics"/>
              </a:rPr>
              <a:t>onship Logic: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81763" y="4743910"/>
            <a:ext cx="4132100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Establ</a:t>
            </a:r>
            <a:r>
              <a:rPr lang="en-US" sz="2799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ished One-to-Many (1:*) relationships flowing from Dimension tables to the Fact table.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76836" y="2120957"/>
            <a:ext cx="11134327" cy="7891455"/>
          </a:xfrm>
          <a:custGeom>
            <a:avLst/>
            <a:gdLst/>
            <a:ahLst/>
            <a:cxnLst/>
            <a:rect r="r" b="b" t="t" l="l"/>
            <a:pathLst>
              <a:path h="7891455" w="11134327">
                <a:moveTo>
                  <a:pt x="0" y="0"/>
                </a:moveTo>
                <a:lnTo>
                  <a:pt x="11134328" y="0"/>
                </a:lnTo>
                <a:lnTo>
                  <a:pt x="11134328" y="7891455"/>
                </a:lnTo>
                <a:lnTo>
                  <a:pt x="0" y="7891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5484" y="1123950"/>
            <a:ext cx="14246335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ta Modeling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8234" y="6617344"/>
            <a:ext cx="3992570" cy="3259389"/>
          </a:xfrm>
          <a:custGeom>
            <a:avLst/>
            <a:gdLst/>
            <a:ahLst/>
            <a:cxnLst/>
            <a:rect r="r" b="b" t="t" l="l"/>
            <a:pathLst>
              <a:path h="3259389" w="3992570">
                <a:moveTo>
                  <a:pt x="0" y="0"/>
                </a:moveTo>
                <a:lnTo>
                  <a:pt x="3992571" y="0"/>
                </a:lnTo>
                <a:lnTo>
                  <a:pt x="3992571" y="3259390"/>
                </a:lnTo>
                <a:lnTo>
                  <a:pt x="0" y="3259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69683" y="2262529"/>
            <a:ext cx="3180311" cy="3470577"/>
          </a:xfrm>
          <a:custGeom>
            <a:avLst/>
            <a:gdLst/>
            <a:ahLst/>
            <a:cxnLst/>
            <a:rect r="r" b="b" t="t" l="l"/>
            <a:pathLst>
              <a:path h="3470577" w="3180311">
                <a:moveTo>
                  <a:pt x="0" y="0"/>
                </a:moveTo>
                <a:lnTo>
                  <a:pt x="3180310" y="0"/>
                </a:lnTo>
                <a:lnTo>
                  <a:pt x="3180310" y="3470577"/>
                </a:lnTo>
                <a:lnTo>
                  <a:pt x="0" y="34705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05484" y="1123950"/>
            <a:ext cx="1063060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Expl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oratory Data Analysis (EDA)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5484" y="3069144"/>
            <a:ext cx="4521226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Positiv</a:t>
            </a:r>
            <a:r>
              <a:rPr lang="en-US" sz="3500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 correlation between Discount % and Units Sold.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82751" y="2345244"/>
            <a:ext cx="492392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Coupons: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30805" y="6694488"/>
            <a:ext cx="4923927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>
                <a:solidFill>
                  <a:srgbClr val="F6F2E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Spo</a:t>
            </a:r>
            <a:r>
              <a:rPr lang="en-US" b="true" sz="4800">
                <a:solidFill>
                  <a:srgbClr val="F6F2E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nsored: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5484" y="2249992"/>
            <a:ext cx="3184565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Discounts: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4731" y="3195007"/>
            <a:ext cx="4413499" cy="183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Products with coupons sold less than those without.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19938" y="7759383"/>
            <a:ext cx="4268619" cy="245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Spon</a:t>
            </a:r>
            <a:r>
              <a:rPr lang="en-US" sz="3499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sored items under-performed; most sales came from organic products.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89501" y="6617344"/>
            <a:ext cx="492392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Buy Box: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89501" y="7465069"/>
            <a:ext cx="4413499" cy="183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Products with Buy Box had much higher sales than those without.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261543"/>
            <a:ext cx="8060619" cy="3813626"/>
          </a:xfrm>
          <a:custGeom>
            <a:avLst/>
            <a:gdLst/>
            <a:ahLst/>
            <a:cxnLst/>
            <a:rect r="r" b="b" t="t" l="l"/>
            <a:pathLst>
              <a:path h="3813626" w="8060619">
                <a:moveTo>
                  <a:pt x="0" y="0"/>
                </a:moveTo>
                <a:lnTo>
                  <a:pt x="8060619" y="0"/>
                </a:lnTo>
                <a:lnTo>
                  <a:pt x="8060619" y="3813626"/>
                </a:lnTo>
                <a:lnTo>
                  <a:pt x="0" y="381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69254" y="6234723"/>
            <a:ext cx="8060619" cy="3779838"/>
          </a:xfrm>
          <a:custGeom>
            <a:avLst/>
            <a:gdLst/>
            <a:ahLst/>
            <a:cxnLst/>
            <a:rect r="r" b="b" t="t" l="l"/>
            <a:pathLst>
              <a:path h="3779838" w="8060619">
                <a:moveTo>
                  <a:pt x="0" y="0"/>
                </a:moveTo>
                <a:lnTo>
                  <a:pt x="8060619" y="0"/>
                </a:lnTo>
                <a:lnTo>
                  <a:pt x="8060619" y="3779838"/>
                </a:lnTo>
                <a:lnTo>
                  <a:pt x="0" y="3779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69254" y="2236547"/>
            <a:ext cx="8060619" cy="3712426"/>
          </a:xfrm>
          <a:custGeom>
            <a:avLst/>
            <a:gdLst/>
            <a:ahLst/>
            <a:cxnLst/>
            <a:rect r="r" b="b" t="t" l="l"/>
            <a:pathLst>
              <a:path h="3712426" w="8060619">
                <a:moveTo>
                  <a:pt x="0" y="0"/>
                </a:moveTo>
                <a:lnTo>
                  <a:pt x="8060619" y="0"/>
                </a:lnTo>
                <a:lnTo>
                  <a:pt x="8060619" y="3712426"/>
                </a:lnTo>
                <a:lnTo>
                  <a:pt x="0" y="3712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5389" y="6236959"/>
            <a:ext cx="7987241" cy="3813626"/>
          </a:xfrm>
          <a:custGeom>
            <a:avLst/>
            <a:gdLst/>
            <a:ahLst/>
            <a:cxnLst/>
            <a:rect r="r" b="b" t="t" l="l"/>
            <a:pathLst>
              <a:path h="3813626" w="7987241">
                <a:moveTo>
                  <a:pt x="0" y="0"/>
                </a:moveTo>
                <a:lnTo>
                  <a:pt x="7987241" y="0"/>
                </a:lnTo>
                <a:lnTo>
                  <a:pt x="7987241" y="3813626"/>
                </a:lnTo>
                <a:lnTo>
                  <a:pt x="0" y="381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05484" y="1123950"/>
            <a:ext cx="1063060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Expl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oratory Data Analysis (EDA)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05484" y="1123950"/>
            <a:ext cx="1063060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Das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hboard Showcase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5484" y="2711956"/>
            <a:ext cx="4521226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Pages: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96477" y="4048081"/>
            <a:ext cx="3295752" cy="2602761"/>
            <a:chOff x="0" y="0"/>
            <a:chExt cx="461823" cy="3647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1823" cy="364716"/>
            </a:xfrm>
            <a:custGeom>
              <a:avLst/>
              <a:gdLst/>
              <a:ahLst/>
              <a:cxnLst/>
              <a:rect r="r" b="b" t="t" l="l"/>
              <a:pathLst>
                <a:path h="364716" w="461823">
                  <a:moveTo>
                    <a:pt x="70472" y="0"/>
                  </a:moveTo>
                  <a:lnTo>
                    <a:pt x="391351" y="0"/>
                  </a:lnTo>
                  <a:cubicBezTo>
                    <a:pt x="410041" y="0"/>
                    <a:pt x="427966" y="7425"/>
                    <a:pt x="441182" y="20641"/>
                  </a:cubicBezTo>
                  <a:cubicBezTo>
                    <a:pt x="454398" y="33857"/>
                    <a:pt x="461823" y="51782"/>
                    <a:pt x="461823" y="70472"/>
                  </a:cubicBezTo>
                  <a:lnTo>
                    <a:pt x="461823" y="294244"/>
                  </a:lnTo>
                  <a:cubicBezTo>
                    <a:pt x="461823" y="333165"/>
                    <a:pt x="430272" y="364716"/>
                    <a:pt x="391351" y="364716"/>
                  </a:cubicBezTo>
                  <a:lnTo>
                    <a:pt x="70472" y="364716"/>
                  </a:lnTo>
                  <a:cubicBezTo>
                    <a:pt x="51782" y="364716"/>
                    <a:pt x="33857" y="357292"/>
                    <a:pt x="20641" y="344076"/>
                  </a:cubicBezTo>
                  <a:cubicBezTo>
                    <a:pt x="7425" y="330860"/>
                    <a:pt x="0" y="312935"/>
                    <a:pt x="0" y="294244"/>
                  </a:cubicBezTo>
                  <a:lnTo>
                    <a:pt x="0" y="70472"/>
                  </a:lnTo>
                  <a:cubicBezTo>
                    <a:pt x="0" y="51782"/>
                    <a:pt x="7425" y="33857"/>
                    <a:pt x="20641" y="20641"/>
                  </a:cubicBezTo>
                  <a:cubicBezTo>
                    <a:pt x="33857" y="7425"/>
                    <a:pt x="51782" y="0"/>
                    <a:pt x="704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2F2F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1823" cy="402816"/>
            </a:xfrm>
            <a:prstGeom prst="rect">
              <a:avLst/>
            </a:prstGeom>
          </p:spPr>
          <p:txBody>
            <a:bodyPr anchor="ctr" rtlCol="false" tIns="57257" lIns="57257" bIns="57257" rIns="5725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96477" y="4857813"/>
            <a:ext cx="3295752" cy="78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6"/>
              </a:lnSpc>
              <a:spcBef>
                <a:spcPct val="0"/>
              </a:spcBef>
            </a:pPr>
            <a:r>
              <a:rPr lang="en-US" sz="4504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Ove</a:t>
            </a:r>
            <a:r>
              <a:rPr lang="en-US" sz="4504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94352" y="4911367"/>
            <a:ext cx="3295752" cy="78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6"/>
              </a:lnSpc>
              <a:spcBef>
                <a:spcPct val="0"/>
              </a:spcBef>
            </a:pPr>
            <a:r>
              <a:rPr lang="en-US" sz="4504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Drivers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010459"/>
            <a:ext cx="4380425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Focus: High-level business health.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Vis</a:t>
            </a: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uals: KPI Cards, Daily Trend Line, Top 10 Products table.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494352" y="7010459"/>
            <a:ext cx="3874481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</a:t>
            </a: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ocus: Impact of marketing levers.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Visuals: Scatter Plot (Discount vs. U</a:t>
            </a:r>
            <a:r>
              <a:rPr lang="en-US" sz="2799">
                <a:solidFill>
                  <a:srgbClr val="F2F2F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nits), Coupon Impact, Buy Box Share.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67818" y="4457763"/>
            <a:ext cx="2941024" cy="158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6"/>
              </a:lnSpc>
              <a:spcBef>
                <a:spcPct val="0"/>
              </a:spcBef>
            </a:pPr>
            <a:r>
              <a:rPr lang="en-US" sz="4504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P</a:t>
            </a:r>
            <a:r>
              <a:rPr lang="en-US" sz="4504" i="true">
                <a:solidFill>
                  <a:srgbClr val="F2F2F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roduct Deep Dive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590454" y="3994527"/>
            <a:ext cx="3295752" cy="2602761"/>
            <a:chOff x="0" y="0"/>
            <a:chExt cx="461823" cy="3647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1823" cy="364716"/>
            </a:xfrm>
            <a:custGeom>
              <a:avLst/>
              <a:gdLst/>
              <a:ahLst/>
              <a:cxnLst/>
              <a:rect r="r" b="b" t="t" l="l"/>
              <a:pathLst>
                <a:path h="364716" w="461823">
                  <a:moveTo>
                    <a:pt x="70472" y="0"/>
                  </a:moveTo>
                  <a:lnTo>
                    <a:pt x="391351" y="0"/>
                  </a:lnTo>
                  <a:cubicBezTo>
                    <a:pt x="410041" y="0"/>
                    <a:pt x="427966" y="7425"/>
                    <a:pt x="441182" y="20641"/>
                  </a:cubicBezTo>
                  <a:cubicBezTo>
                    <a:pt x="454398" y="33857"/>
                    <a:pt x="461823" y="51782"/>
                    <a:pt x="461823" y="70472"/>
                  </a:cubicBezTo>
                  <a:lnTo>
                    <a:pt x="461823" y="294244"/>
                  </a:lnTo>
                  <a:cubicBezTo>
                    <a:pt x="461823" y="333165"/>
                    <a:pt x="430272" y="364716"/>
                    <a:pt x="391351" y="364716"/>
                  </a:cubicBezTo>
                  <a:lnTo>
                    <a:pt x="70472" y="364716"/>
                  </a:lnTo>
                  <a:cubicBezTo>
                    <a:pt x="51782" y="364716"/>
                    <a:pt x="33857" y="357292"/>
                    <a:pt x="20641" y="344076"/>
                  </a:cubicBezTo>
                  <a:cubicBezTo>
                    <a:pt x="7425" y="330860"/>
                    <a:pt x="0" y="312935"/>
                    <a:pt x="0" y="294244"/>
                  </a:cubicBezTo>
                  <a:lnTo>
                    <a:pt x="0" y="70472"/>
                  </a:lnTo>
                  <a:cubicBezTo>
                    <a:pt x="0" y="51782"/>
                    <a:pt x="7425" y="33857"/>
                    <a:pt x="20641" y="20641"/>
                  </a:cubicBezTo>
                  <a:cubicBezTo>
                    <a:pt x="33857" y="7425"/>
                    <a:pt x="51782" y="0"/>
                    <a:pt x="704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2F2F2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1823" cy="402816"/>
            </a:xfrm>
            <a:prstGeom prst="rect">
              <a:avLst/>
            </a:prstGeom>
          </p:spPr>
          <p:txBody>
            <a:bodyPr anchor="ctr" rtlCol="false" tIns="57257" lIns="57257" bIns="57257" rIns="5725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94352" y="4048081"/>
            <a:ext cx="3295752" cy="2602761"/>
            <a:chOff x="0" y="0"/>
            <a:chExt cx="461823" cy="3647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1823" cy="364716"/>
            </a:xfrm>
            <a:custGeom>
              <a:avLst/>
              <a:gdLst/>
              <a:ahLst/>
              <a:cxnLst/>
              <a:rect r="r" b="b" t="t" l="l"/>
              <a:pathLst>
                <a:path h="364716" w="461823">
                  <a:moveTo>
                    <a:pt x="70472" y="0"/>
                  </a:moveTo>
                  <a:lnTo>
                    <a:pt x="391351" y="0"/>
                  </a:lnTo>
                  <a:cubicBezTo>
                    <a:pt x="410041" y="0"/>
                    <a:pt x="427966" y="7425"/>
                    <a:pt x="441182" y="20641"/>
                  </a:cubicBezTo>
                  <a:cubicBezTo>
                    <a:pt x="454398" y="33857"/>
                    <a:pt x="461823" y="51782"/>
                    <a:pt x="461823" y="70472"/>
                  </a:cubicBezTo>
                  <a:lnTo>
                    <a:pt x="461823" y="294244"/>
                  </a:lnTo>
                  <a:cubicBezTo>
                    <a:pt x="461823" y="333165"/>
                    <a:pt x="430272" y="364716"/>
                    <a:pt x="391351" y="364716"/>
                  </a:cubicBezTo>
                  <a:lnTo>
                    <a:pt x="70472" y="364716"/>
                  </a:lnTo>
                  <a:cubicBezTo>
                    <a:pt x="51782" y="364716"/>
                    <a:pt x="33857" y="357292"/>
                    <a:pt x="20641" y="344076"/>
                  </a:cubicBezTo>
                  <a:cubicBezTo>
                    <a:pt x="7425" y="330860"/>
                    <a:pt x="0" y="312935"/>
                    <a:pt x="0" y="294244"/>
                  </a:cubicBezTo>
                  <a:lnTo>
                    <a:pt x="0" y="70472"/>
                  </a:lnTo>
                  <a:cubicBezTo>
                    <a:pt x="0" y="51782"/>
                    <a:pt x="7425" y="33857"/>
                    <a:pt x="20641" y="20641"/>
                  </a:cubicBezTo>
                  <a:cubicBezTo>
                    <a:pt x="33857" y="7425"/>
                    <a:pt x="51782" y="0"/>
                    <a:pt x="704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2F2F2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61823" cy="402816"/>
            </a:xfrm>
            <a:prstGeom prst="rect">
              <a:avLst/>
            </a:prstGeom>
          </p:spPr>
          <p:txBody>
            <a:bodyPr anchor="ctr" rtlCol="false" tIns="57257" lIns="57257" bIns="57257" rIns="5725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454807" y="6962834"/>
            <a:ext cx="4320779" cy="27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0722" indent="-280361" lvl="1">
              <a:lnSpc>
                <a:spcPts val="3635"/>
              </a:lnSpc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Focus: Specific item details.</a:t>
            </a:r>
          </a:p>
          <a:p>
            <a:pPr algn="l" marL="560722" indent="-280361" lvl="1">
              <a:lnSpc>
                <a:spcPts val="3635"/>
              </a:lnSpc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Visuals: Product Image, Real-time Price, Rating (accessed via Drill-through).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10039" y="2145570"/>
            <a:ext cx="13867922" cy="7798741"/>
          </a:xfrm>
          <a:custGeom>
            <a:avLst/>
            <a:gdLst/>
            <a:ahLst/>
            <a:cxnLst/>
            <a:rect r="r" b="b" t="t" l="l"/>
            <a:pathLst>
              <a:path h="7798741" w="13867922">
                <a:moveTo>
                  <a:pt x="0" y="0"/>
                </a:moveTo>
                <a:lnTo>
                  <a:pt x="13867922" y="0"/>
                </a:lnTo>
                <a:lnTo>
                  <a:pt x="13867922" y="7798741"/>
                </a:lnTo>
                <a:lnTo>
                  <a:pt x="0" y="7798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5484" y="1123950"/>
            <a:ext cx="1063060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Das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hboard Showcase: Page 1(Overview)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20467" y="2178823"/>
            <a:ext cx="14247067" cy="7813211"/>
          </a:xfrm>
          <a:custGeom>
            <a:avLst/>
            <a:gdLst/>
            <a:ahLst/>
            <a:cxnLst/>
            <a:rect r="r" b="b" t="t" l="l"/>
            <a:pathLst>
              <a:path h="7813211" w="14247067">
                <a:moveTo>
                  <a:pt x="0" y="0"/>
                </a:moveTo>
                <a:lnTo>
                  <a:pt x="14247066" y="0"/>
                </a:lnTo>
                <a:lnTo>
                  <a:pt x="14247066" y="7813211"/>
                </a:lnTo>
                <a:lnTo>
                  <a:pt x="0" y="7813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79" r="0" b="-137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5484" y="1123950"/>
            <a:ext cx="1063060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Das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hboard Showcase: Page 2(Drivers)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45830" y="2179624"/>
            <a:ext cx="13996341" cy="7859078"/>
          </a:xfrm>
          <a:custGeom>
            <a:avLst/>
            <a:gdLst/>
            <a:ahLst/>
            <a:cxnLst/>
            <a:rect r="r" b="b" t="t" l="l"/>
            <a:pathLst>
              <a:path h="7859078" w="13996341">
                <a:moveTo>
                  <a:pt x="0" y="0"/>
                </a:moveTo>
                <a:lnTo>
                  <a:pt x="13996340" y="0"/>
                </a:lnTo>
                <a:lnTo>
                  <a:pt x="13996340" y="7859078"/>
                </a:lnTo>
                <a:lnTo>
                  <a:pt x="0" y="78590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5484" y="1123950"/>
            <a:ext cx="11340064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Das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hboard Showcase: Page 3(Product Deep Dive)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2264"/>
            <a:ext cx="16230600" cy="1106296"/>
            <a:chOff x="0" y="0"/>
            <a:chExt cx="4274726" cy="291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91370"/>
            </a:xfrm>
            <a:custGeom>
              <a:avLst/>
              <a:gdLst/>
              <a:ahLst/>
              <a:cxnLst/>
              <a:rect r="r" b="b" t="t" l="l"/>
              <a:pathLst>
                <a:path h="291370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05484" y="1123950"/>
            <a:ext cx="1063060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</a:t>
            </a:r>
            <a:r>
              <a:rPr lang="en-US" sz="3600" b="true">
                <a:solidFill>
                  <a:srgbClr val="232F3E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nsights &amp; Recommendations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5484" y="3343354"/>
            <a:ext cx="5987497" cy="521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Buy Box: Winning the Buy Box is the primary driver for volume.</a:t>
            </a:r>
          </a:p>
          <a:p>
            <a:pPr algn="l">
              <a:lnSpc>
                <a:spcPts val="4199"/>
              </a:lnSpc>
            </a:pP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Ratings &amp; Social Proof: Top-selling products consistently have high ratings (≈4★+) and many reviews, which means trust and perceived quality drive sales more than aggressive discounting.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5484" y="2417285"/>
            <a:ext cx="4984410" cy="75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Business Insights: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45431" y="5086350"/>
            <a:ext cx="8979409" cy="731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Focus on</a:t>
            </a:r>
            <a:r>
              <a:rPr lang="en-US" sz="2999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High-Rated Products: Prioritize stock and ad spend on products with strong ratings and review volume; avoid pushing low-rated items.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Protect the Buy Box: Keep prices competitive and inventory healthy to stay Buy Box–eligible on key products.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Targeted Promotions: Use discounts and Sponsored campaigns selectively (e.g., for new or high-potential products) instead of running blanket coupons on everything.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45431" y="4388483"/>
            <a:ext cx="5317927" cy="75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Recommendations: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662" y="514350"/>
            <a:ext cx="17418675" cy="9258300"/>
            <a:chOff x="0" y="0"/>
            <a:chExt cx="4587635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7635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87635">
                  <a:moveTo>
                    <a:pt x="17778" y="0"/>
                  </a:moveTo>
                  <a:lnTo>
                    <a:pt x="4569856" y="0"/>
                  </a:lnTo>
                  <a:cubicBezTo>
                    <a:pt x="4579675" y="0"/>
                    <a:pt x="4587635" y="7960"/>
                    <a:pt x="4587635" y="17778"/>
                  </a:cubicBezTo>
                  <a:lnTo>
                    <a:pt x="4587635" y="2420622"/>
                  </a:lnTo>
                  <a:cubicBezTo>
                    <a:pt x="4587635" y="2425337"/>
                    <a:pt x="4585762" y="2429859"/>
                    <a:pt x="4582428" y="2433193"/>
                  </a:cubicBezTo>
                  <a:cubicBezTo>
                    <a:pt x="4579093" y="2436527"/>
                    <a:pt x="4574572" y="2438400"/>
                    <a:pt x="4569856" y="2438400"/>
                  </a:cubicBezTo>
                  <a:lnTo>
                    <a:pt x="17778" y="2438400"/>
                  </a:lnTo>
                  <a:cubicBezTo>
                    <a:pt x="13063" y="2438400"/>
                    <a:pt x="8541" y="2436527"/>
                    <a:pt x="5207" y="2433193"/>
                  </a:cubicBezTo>
                  <a:cubicBezTo>
                    <a:pt x="1873" y="2429859"/>
                    <a:pt x="0" y="2425337"/>
                    <a:pt x="0" y="2420622"/>
                  </a:cubicBezTo>
                  <a:lnTo>
                    <a:pt x="0" y="17778"/>
                  </a:lnTo>
                  <a:cubicBezTo>
                    <a:pt x="0" y="13063"/>
                    <a:pt x="1873" y="8541"/>
                    <a:pt x="5207" y="5207"/>
                  </a:cubicBezTo>
                  <a:cubicBezTo>
                    <a:pt x="8541" y="1873"/>
                    <a:pt x="13063" y="0"/>
                    <a:pt x="17778" y="0"/>
                  </a:cubicBezTo>
                  <a:close/>
                </a:path>
              </a:pathLst>
            </a:custGeom>
            <a:solidFill>
              <a:srgbClr val="232F3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7635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3984" y="1540891"/>
            <a:ext cx="8479865" cy="7647296"/>
          </a:xfrm>
          <a:custGeom>
            <a:avLst/>
            <a:gdLst/>
            <a:ahLst/>
            <a:cxnLst/>
            <a:rect r="r" b="b" t="t" l="l"/>
            <a:pathLst>
              <a:path h="7647296" w="8479865">
                <a:moveTo>
                  <a:pt x="0" y="0"/>
                </a:moveTo>
                <a:lnTo>
                  <a:pt x="8479865" y="0"/>
                </a:lnTo>
                <a:lnTo>
                  <a:pt x="8479865" y="7647297"/>
                </a:lnTo>
                <a:lnTo>
                  <a:pt x="0" y="7647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33043" y="1540891"/>
            <a:ext cx="7647296" cy="7647296"/>
          </a:xfrm>
          <a:custGeom>
            <a:avLst/>
            <a:gdLst/>
            <a:ahLst/>
            <a:cxnLst/>
            <a:rect r="r" b="b" t="t" l="l"/>
            <a:pathLst>
              <a:path h="7647296" w="7647296">
                <a:moveTo>
                  <a:pt x="0" y="0"/>
                </a:moveTo>
                <a:lnTo>
                  <a:pt x="7647296" y="0"/>
                </a:lnTo>
                <a:lnTo>
                  <a:pt x="7647296" y="7647297"/>
                </a:lnTo>
                <a:lnTo>
                  <a:pt x="0" y="7647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04704" y="4269105"/>
            <a:ext cx="8478592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9"/>
              </a:lnSpc>
            </a:pPr>
            <a:r>
              <a:rPr lang="en-US" sz="11399" b="true">
                <a:solidFill>
                  <a:srgbClr val="F2F2F2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DAG61tb4lME</dc:identifier>
  <dcterms:modified xsi:type="dcterms:W3CDTF">2011-08-01T06:04:30Z</dcterms:modified>
  <cp:revision>1</cp:revision>
  <dc:title>Amazon Sales Analytics Dashboard Presentation</dc:title>
</cp:coreProperties>
</file>